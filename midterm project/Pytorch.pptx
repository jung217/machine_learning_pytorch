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1E52B78-689D-446B-93D8-A8833A1D740E}">
  <a:tblStyle styleId="{81E52B78-689D-446B-93D8-A8833A1D74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Nunito-regular.fntdata"/><Relationship Id="rId25" Type="http://schemas.openxmlformats.org/officeDocument/2006/relationships/slide" Target="slides/slide19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d336eda4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d336eda4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9d336eda49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9d336eda49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7ff81508c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7ff81508c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7ff81508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7ff81508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7ff81508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97ff81508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97ff81508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97ff81508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7ff81508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7ff81508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9d336eda49_3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9d336eda49_3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d336eda49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d336eda49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d336eda4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d336eda4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9d336eda4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9d336eda4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d336eda49_3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9d336eda49_3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d336eda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d336eda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97ff81508c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97ff81508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d336eda49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d336eda49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d336eda49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d336eda49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7ff81508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7ff81508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7ff81508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7ff81508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hyperlink" Target="https://www.kaggle.com/datasets/asaniczka/pc-parts-images-dataset-classification/data" TargetMode="External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jpg"/><Relationship Id="rId10" Type="http://schemas.openxmlformats.org/officeDocument/2006/relationships/image" Target="../media/image6.jpg"/><Relationship Id="rId13" Type="http://schemas.openxmlformats.org/officeDocument/2006/relationships/image" Target="../media/image11.jpg"/><Relationship Id="rId12" Type="http://schemas.openxmlformats.org/officeDocument/2006/relationships/image" Target="../media/image15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jpg"/><Relationship Id="rId4" Type="http://schemas.openxmlformats.org/officeDocument/2006/relationships/image" Target="../media/image4.jpg"/><Relationship Id="rId9" Type="http://schemas.openxmlformats.org/officeDocument/2006/relationships/image" Target="../media/image14.jpg"/><Relationship Id="rId15" Type="http://schemas.openxmlformats.org/officeDocument/2006/relationships/image" Target="../media/image5.jpg"/><Relationship Id="rId14" Type="http://schemas.openxmlformats.org/officeDocument/2006/relationships/image" Target="../media/image9.jpg"/><Relationship Id="rId16" Type="http://schemas.openxmlformats.org/officeDocument/2006/relationships/image" Target="../media/image1.jpg"/><Relationship Id="rId5" Type="http://schemas.openxmlformats.org/officeDocument/2006/relationships/image" Target="../media/image17.jpg"/><Relationship Id="rId6" Type="http://schemas.openxmlformats.org/officeDocument/2006/relationships/image" Target="../media/image3.jpg"/><Relationship Id="rId7" Type="http://schemas.openxmlformats.org/officeDocument/2006/relationships/image" Target="../media/image2.jpg"/><Relationship Id="rId8" Type="http://schemas.openxmlformats.org/officeDocument/2006/relationships/image" Target="../media/image10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0.png"/><Relationship Id="rId4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jpg"/><Relationship Id="rId10" Type="http://schemas.openxmlformats.org/officeDocument/2006/relationships/image" Target="../media/image30.jpg"/><Relationship Id="rId13" Type="http://schemas.openxmlformats.org/officeDocument/2006/relationships/image" Target="../media/image34.jpg"/><Relationship Id="rId12" Type="http://schemas.openxmlformats.org/officeDocument/2006/relationships/image" Target="../media/image37.jp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Relationship Id="rId4" Type="http://schemas.openxmlformats.org/officeDocument/2006/relationships/image" Target="../media/image31.jpg"/><Relationship Id="rId9" Type="http://schemas.openxmlformats.org/officeDocument/2006/relationships/image" Target="../media/image32.jpg"/><Relationship Id="rId14" Type="http://schemas.openxmlformats.org/officeDocument/2006/relationships/image" Target="../media/image38.jpg"/><Relationship Id="rId5" Type="http://schemas.openxmlformats.org/officeDocument/2006/relationships/image" Target="../media/image36.jpg"/><Relationship Id="rId6" Type="http://schemas.openxmlformats.org/officeDocument/2006/relationships/image" Target="../media/image26.jpg"/><Relationship Id="rId7" Type="http://schemas.openxmlformats.org/officeDocument/2006/relationships/image" Target="../media/image35.jpg"/><Relationship Id="rId8" Type="http://schemas.openxmlformats.org/officeDocument/2006/relationships/image" Target="../media/image33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345950" y="1586400"/>
            <a:ext cx="64521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200">
                <a:latin typeface="Times New Roman"/>
                <a:ea typeface="Times New Roman"/>
                <a:cs typeface="Times New Roman"/>
                <a:sym typeface="Times New Roman"/>
              </a:rPr>
              <a:t>Pytorch </a:t>
            </a:r>
            <a:r>
              <a:rPr lang="zh-TW" sz="6200">
                <a:latin typeface="DFKai-SB"/>
                <a:ea typeface="DFKai-SB"/>
                <a:cs typeface="DFKai-SB"/>
                <a:sym typeface="DFKai-SB"/>
              </a:rPr>
              <a:t>期中專案</a:t>
            </a:r>
            <a:endParaRPr sz="6200"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91350" y="3034496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M11407509 </a:t>
            </a:r>
            <a:r>
              <a:rPr lang="zh-TW" sz="2000">
                <a:latin typeface="DFKai-SB"/>
                <a:ea typeface="DFKai-SB"/>
                <a:cs typeface="DFKai-SB"/>
                <a:sym typeface="DFKai-SB"/>
              </a:rPr>
              <a:t>簡志融</a:t>
            </a:r>
            <a:endParaRPr sz="20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4"/>
          <p:cNvPicPr preferRelativeResize="0"/>
          <p:nvPr/>
        </p:nvPicPr>
        <p:blipFill rotWithShape="1">
          <a:blip r:embed="rId3">
            <a:alphaModFix/>
          </a:blip>
          <a:srcRect b="0" l="0" r="2171" t="0"/>
          <a:stretch/>
        </p:blipFill>
        <p:spPr>
          <a:xfrm>
            <a:off x="4915550" y="2868029"/>
            <a:ext cx="4025626" cy="2061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>
            <p:ph type="title"/>
          </p:nvPr>
        </p:nvSpPr>
        <p:spPr>
          <a:xfrm>
            <a:off x="333550" y="29062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4"/>
          <p:cNvSpPr txBox="1"/>
          <p:nvPr>
            <p:ph idx="1" type="body"/>
          </p:nvPr>
        </p:nvSpPr>
        <p:spPr>
          <a:xfrm>
            <a:off x="541679" y="997471"/>
            <a:ext cx="7505700" cy="31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zh-TW" sz="20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PC Parts Images Dataset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Original Image Dataset with Scraped Images from Google Images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120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Total number of classes: 14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Total number of images: 3279(avg 234 each class)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Resolution: 256x256 pixels 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○"/>
            </a:pPr>
            <a:r>
              <a:rPr lang="zh-TW" sz="2000">
                <a:latin typeface="Times New Roman"/>
                <a:ea typeface="Times New Roman"/>
                <a:cs typeface="Times New Roman"/>
                <a:sym typeface="Times New Roman"/>
              </a:rPr>
              <a:t>Image format: JPG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333550" y="290625"/>
            <a:ext cx="21900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541675" y="997475"/>
            <a:ext cx="1918200" cy="37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cables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case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hdd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headset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keyboard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microphone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monitor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motherboard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mouse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speakers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zh-TW" sz="1800">
                <a:latin typeface="Times New Roman"/>
                <a:ea typeface="Times New Roman"/>
                <a:cs typeface="Times New Roman"/>
                <a:sym typeface="Times New Roman"/>
              </a:rPr>
              <a:t>webcam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15" title="1.jpg"/>
          <p:cNvPicPr preferRelativeResize="0"/>
          <p:nvPr/>
        </p:nvPicPr>
        <p:blipFill rotWithShape="1">
          <a:blip r:embed="rId3">
            <a:alphaModFix/>
          </a:blip>
          <a:srcRect b="21262" l="0" r="0" t="17795"/>
          <a:stretch/>
        </p:blipFill>
        <p:spPr>
          <a:xfrm>
            <a:off x="2613213" y="773263"/>
            <a:ext cx="1466950" cy="89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5" title="12.jpg"/>
          <p:cNvPicPr preferRelativeResize="0"/>
          <p:nvPr/>
        </p:nvPicPr>
        <p:blipFill rotWithShape="1">
          <a:blip r:embed="rId4">
            <a:alphaModFix/>
          </a:blip>
          <a:srcRect b="6441" l="17070" r="17896" t="4097"/>
          <a:stretch/>
        </p:blipFill>
        <p:spPr>
          <a:xfrm>
            <a:off x="4099563" y="539838"/>
            <a:ext cx="905215" cy="1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 title="31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51688" y="709862"/>
            <a:ext cx="905200" cy="90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 title="14.jpg"/>
          <p:cNvPicPr preferRelativeResize="0"/>
          <p:nvPr/>
        </p:nvPicPr>
        <p:blipFill rotWithShape="1">
          <a:blip r:embed="rId6">
            <a:alphaModFix/>
          </a:blip>
          <a:srcRect b="0" l="0" r="4725" t="10586"/>
          <a:stretch/>
        </p:blipFill>
        <p:spPr>
          <a:xfrm>
            <a:off x="6203813" y="539838"/>
            <a:ext cx="1326837" cy="1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5" title="69.jpg"/>
          <p:cNvPicPr preferRelativeResize="0"/>
          <p:nvPr/>
        </p:nvPicPr>
        <p:blipFill rotWithShape="1">
          <a:blip r:embed="rId7">
            <a:alphaModFix/>
          </a:blip>
          <a:srcRect b="0" l="18133" r="17241" t="0"/>
          <a:stretch/>
        </p:blipFill>
        <p:spPr>
          <a:xfrm>
            <a:off x="7620613" y="519863"/>
            <a:ext cx="905200" cy="14007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5" title="19.jpg"/>
          <p:cNvPicPr preferRelativeResize="0"/>
          <p:nvPr/>
        </p:nvPicPr>
        <p:blipFill rotWithShape="1">
          <a:blip r:embed="rId8">
            <a:alphaModFix/>
          </a:blip>
          <a:srcRect b="0" l="21333" r="18505" t="0"/>
          <a:stretch/>
        </p:blipFill>
        <p:spPr>
          <a:xfrm>
            <a:off x="2757100" y="2104438"/>
            <a:ext cx="749132" cy="1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 title="99.jpg"/>
          <p:cNvPicPr preferRelativeResize="0"/>
          <p:nvPr/>
        </p:nvPicPr>
        <p:blipFill rotWithShape="1">
          <a:blip r:embed="rId9">
            <a:alphaModFix/>
          </a:blip>
          <a:srcRect b="28316" l="0" r="0" t="27829"/>
          <a:stretch/>
        </p:blipFill>
        <p:spPr>
          <a:xfrm>
            <a:off x="3586450" y="2360050"/>
            <a:ext cx="1673738" cy="7339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 title="213.jpg"/>
          <p:cNvPicPr preferRelativeResize="0"/>
          <p:nvPr/>
        </p:nvPicPr>
        <p:blipFill rotWithShape="1">
          <a:blip r:embed="rId10">
            <a:alphaModFix/>
          </a:blip>
          <a:srcRect b="0" l="25846" r="25788" t="0"/>
          <a:stretch/>
        </p:blipFill>
        <p:spPr>
          <a:xfrm>
            <a:off x="5309821" y="2104426"/>
            <a:ext cx="602260" cy="1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 title="250.jpg"/>
          <p:cNvPicPr preferRelativeResize="0"/>
          <p:nvPr/>
        </p:nvPicPr>
        <p:blipFill rotWithShape="1">
          <a:blip r:embed="rId11">
            <a:alphaModFix/>
          </a:blip>
          <a:srcRect b="5553" l="0" r="0" t="5025"/>
          <a:stretch/>
        </p:blipFill>
        <p:spPr>
          <a:xfrm>
            <a:off x="6057750" y="2104425"/>
            <a:ext cx="1392639" cy="12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5" title="7.jpg"/>
          <p:cNvPicPr preferRelativeResize="0"/>
          <p:nvPr/>
        </p:nvPicPr>
        <p:blipFill rotWithShape="1">
          <a:blip r:embed="rId12">
            <a:alphaModFix/>
          </a:blip>
          <a:srcRect b="0" l="11371" r="0" t="0"/>
          <a:stretch/>
        </p:blipFill>
        <p:spPr>
          <a:xfrm>
            <a:off x="7558013" y="2188488"/>
            <a:ext cx="1030375" cy="116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5" title="20.jpg"/>
          <p:cNvPicPr preferRelativeResize="0"/>
          <p:nvPr/>
        </p:nvPicPr>
        <p:blipFill rotWithShape="1">
          <a:blip r:embed="rId13">
            <a:alphaModFix/>
          </a:blip>
          <a:srcRect b="0" l="26087" r="24136" t="0"/>
          <a:stretch/>
        </p:blipFill>
        <p:spPr>
          <a:xfrm>
            <a:off x="3031050" y="3669025"/>
            <a:ext cx="475186" cy="95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 title="146.jpg"/>
          <p:cNvPicPr preferRelativeResize="0"/>
          <p:nvPr/>
        </p:nvPicPr>
        <p:blipFill rotWithShape="1">
          <a:blip r:embed="rId14">
            <a:alphaModFix/>
          </a:blip>
          <a:srcRect b="18213" l="6052" r="4148" t="23892"/>
          <a:stretch/>
        </p:blipFill>
        <p:spPr>
          <a:xfrm>
            <a:off x="3898725" y="3740238"/>
            <a:ext cx="1259800" cy="8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5" title="285.jpg"/>
          <p:cNvPicPr preferRelativeResize="0"/>
          <p:nvPr/>
        </p:nvPicPr>
        <p:blipFill rotWithShape="1">
          <a:blip r:embed="rId15">
            <a:alphaModFix/>
          </a:blip>
          <a:srcRect b="22373" l="6075" r="6504" t="22762"/>
          <a:stretch/>
        </p:blipFill>
        <p:spPr>
          <a:xfrm>
            <a:off x="6656825" y="3669013"/>
            <a:ext cx="1520993" cy="95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5" title="26.jpg"/>
          <p:cNvPicPr preferRelativeResize="0"/>
          <p:nvPr/>
        </p:nvPicPr>
        <p:blipFill rotWithShape="1">
          <a:blip r:embed="rId16">
            <a:alphaModFix/>
          </a:blip>
          <a:srcRect b="4092" l="11572" r="6352" t="21629"/>
          <a:stretch/>
        </p:blipFill>
        <p:spPr>
          <a:xfrm>
            <a:off x="5488553" y="3736725"/>
            <a:ext cx="905200" cy="81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273425" y="2503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2" name="Google Shape;162;p16" title="截圖 2025-10-27 15.40.53.png"/>
          <p:cNvPicPr preferRelativeResize="0"/>
          <p:nvPr/>
        </p:nvPicPr>
        <p:blipFill rotWithShape="1">
          <a:blip r:embed="rId3">
            <a:alphaModFix/>
          </a:blip>
          <a:srcRect b="4282" l="8265" r="53960" t="25393"/>
          <a:stretch/>
        </p:blipFill>
        <p:spPr>
          <a:xfrm>
            <a:off x="1686750" y="335475"/>
            <a:ext cx="3693885" cy="447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title="截圖 2025-10-27 15.41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0635" y="335475"/>
            <a:ext cx="3456639" cy="28326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type="title"/>
          </p:nvPr>
        </p:nvSpPr>
        <p:spPr>
          <a:xfrm>
            <a:off x="630625" y="3693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Model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9" name="Google Shape;169;p17" title="截圖 2025-10-27 15.43.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74613" y="294363"/>
            <a:ext cx="3844925" cy="4554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412325" y="3495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Fit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18" title="截圖 2025-10-27 15.43.5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588" y="2723625"/>
            <a:ext cx="4206074" cy="8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 title="截圖 2025-10-27 15.44.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7588" y="1547600"/>
            <a:ext cx="7888829" cy="87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"/>
          <p:cNvSpPr txBox="1"/>
          <p:nvPr>
            <p:ph type="title"/>
          </p:nvPr>
        </p:nvSpPr>
        <p:spPr>
          <a:xfrm>
            <a:off x="436488" y="400238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CNN v.s. myCNN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2" name="Google Shape;182;p19"/>
          <p:cNvGraphicFramePr/>
          <p:nvPr/>
        </p:nvGraphicFramePr>
        <p:xfrm>
          <a:off x="738913" y="167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{81E52B78-689D-446B-93D8-A8833A1D740E}</a:tableStyleId>
              </a:tblPr>
              <a:tblGrid>
                <a:gridCol w="1451925"/>
                <a:gridCol w="3151600"/>
                <a:gridCol w="3151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項目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myCNN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卷積層數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分類器線性層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64*7*7 → 256 → classes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32*56*56 → 128 → 64 → 32 → classes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BatchNorm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(after every Conv)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Dropout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Pooling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MaxPooling + AdaptiveAvgPool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MaxPooling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參數量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中等偏多可泛化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參數爆炸 (Flatten層巨大)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436488" y="400238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CNN v.s. myCNN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738913" y="1675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{81E52B78-689D-446B-93D8-A8833A1D740E}</a:tableStyleId>
              </a:tblPr>
              <a:tblGrid>
                <a:gridCol w="1451925"/>
                <a:gridCol w="3151600"/>
                <a:gridCol w="3151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項目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CNN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myCNN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穩定性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高</a:t>
                      </a: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低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過擬合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中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高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訓練速度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稍慢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快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收斂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一般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不穩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模型取向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標準CNN，注重穩定與泛化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較淺層 + 大全連接層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1" title="origin cnn 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550" y="559425"/>
            <a:ext cx="7526900" cy="402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2" title="cnn20n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0250" y="554975"/>
            <a:ext cx="7543501" cy="40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33" y="525067"/>
            <a:ext cx="7655349" cy="409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4" title="cnn20new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125" y="569738"/>
            <a:ext cx="4222274" cy="4004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7600" y="569750"/>
            <a:ext cx="4222274" cy="4004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 title="cnn20new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525" y="692787"/>
            <a:ext cx="4302469" cy="388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692775"/>
            <a:ext cx="4302476" cy="383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6" title="origin cnn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163" y="359412"/>
            <a:ext cx="8499676" cy="442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7"/>
          <p:cNvSpPr txBox="1"/>
          <p:nvPr>
            <p:ph type="title"/>
          </p:nvPr>
        </p:nvSpPr>
        <p:spPr>
          <a:xfrm>
            <a:off x="457413" y="624288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Ｗhy </a:t>
            </a:r>
            <a:r>
              <a:rPr lang="zh-TW">
                <a:latin typeface="Times New Roman"/>
                <a:ea typeface="Times New Roman"/>
                <a:cs typeface="Times New Roman"/>
                <a:sym typeface="Times New Roman"/>
              </a:rPr>
              <a:t>myCNN is better ?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27"/>
          <p:cNvSpPr txBox="1"/>
          <p:nvPr/>
        </p:nvSpPr>
        <p:spPr>
          <a:xfrm>
            <a:off x="1197075" y="1578900"/>
            <a:ext cx="6791700" cy="29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zh-TW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CNN 太深、帶 BN + Dropout	在資料量少時，正規化會過度抑制模型的學習，更新慢，導致學不到細</a:t>
            </a:r>
            <a:r>
              <a:rPr lang="zh-TW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節</a:t>
            </a:r>
            <a:r>
              <a:rPr lang="zh-TW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。 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zh-TW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myCNN 較淺、參數集中在最後幾層，在小資料集上容易直接擬合出分界，訓練 loss 降得快、準確率高。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7"/>
          <p:cNvSpPr txBox="1"/>
          <p:nvPr/>
        </p:nvSpPr>
        <p:spPr>
          <a:xfrm>
            <a:off x="499275" y="4026600"/>
            <a:ext cx="8187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&gt; 資料集不大、圖像解析度中小、batch size 偏小、訓練 epoch 還不多。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8"/>
          <p:cNvSpPr txBox="1"/>
          <p:nvPr>
            <p:ph type="title"/>
          </p:nvPr>
        </p:nvSpPr>
        <p:spPr>
          <a:xfrm>
            <a:off x="632275" y="4985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Potential issues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28"/>
          <p:cNvSpPr txBox="1"/>
          <p:nvPr>
            <p:ph idx="1" type="body"/>
          </p:nvPr>
        </p:nvSpPr>
        <p:spPr>
          <a:xfrm>
            <a:off x="819150" y="1453150"/>
            <a:ext cx="7505700" cy="29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●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模型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過擬合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●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資料集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重複的圖片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多重元素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同一張圖片在不同類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9" title="origin cnn 3.png"/>
          <p:cNvPicPr preferRelativeResize="0"/>
          <p:nvPr/>
        </p:nvPicPr>
        <p:blipFill rotWithShape="1">
          <a:blip r:embed="rId3">
            <a:alphaModFix/>
          </a:blip>
          <a:srcRect b="50922" l="2754" r="75746" t="24807"/>
          <a:stretch/>
        </p:blipFill>
        <p:spPr>
          <a:xfrm>
            <a:off x="324675" y="791850"/>
            <a:ext cx="2872303" cy="1650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9" title="origin cnn 3.png"/>
          <p:cNvPicPr preferRelativeResize="0"/>
          <p:nvPr/>
        </p:nvPicPr>
        <p:blipFill rotWithShape="1">
          <a:blip r:embed="rId3">
            <a:alphaModFix/>
          </a:blip>
          <a:srcRect b="26425" l="27912" r="50588" t="49303"/>
          <a:stretch/>
        </p:blipFill>
        <p:spPr>
          <a:xfrm>
            <a:off x="3196975" y="791850"/>
            <a:ext cx="2872303" cy="1650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9" title="origin cnn 3.png"/>
          <p:cNvPicPr preferRelativeResize="0"/>
          <p:nvPr/>
        </p:nvPicPr>
        <p:blipFill rotWithShape="1">
          <a:blip r:embed="rId3">
            <a:alphaModFix/>
          </a:blip>
          <a:srcRect b="26425" l="52729" r="25771" t="49303"/>
          <a:stretch/>
        </p:blipFill>
        <p:spPr>
          <a:xfrm>
            <a:off x="5947024" y="791850"/>
            <a:ext cx="2872303" cy="1650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9" title="origin cnn 3.png"/>
          <p:cNvPicPr preferRelativeResize="0"/>
          <p:nvPr/>
        </p:nvPicPr>
        <p:blipFill rotWithShape="1">
          <a:blip r:embed="rId3">
            <a:alphaModFix/>
          </a:blip>
          <a:srcRect b="2604" l="77657" r="842" t="73125"/>
          <a:stretch/>
        </p:blipFill>
        <p:spPr>
          <a:xfrm>
            <a:off x="5947024" y="2652552"/>
            <a:ext cx="2872303" cy="1650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9" title="origin cnn.png"/>
          <p:cNvPicPr preferRelativeResize="0"/>
          <p:nvPr/>
        </p:nvPicPr>
        <p:blipFill rotWithShape="1">
          <a:blip r:embed="rId4">
            <a:alphaModFix/>
          </a:blip>
          <a:srcRect b="75179" l="77934" r="4023" t="0"/>
          <a:stretch/>
        </p:blipFill>
        <p:spPr>
          <a:xfrm>
            <a:off x="489168" y="2603508"/>
            <a:ext cx="2543315" cy="174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9" title="origin cnn.png"/>
          <p:cNvPicPr preferRelativeResize="0"/>
          <p:nvPr/>
        </p:nvPicPr>
        <p:blipFill rotWithShape="1">
          <a:blip r:embed="rId4">
            <a:alphaModFix/>
          </a:blip>
          <a:srcRect b="27330" l="52815" r="27975" t="49242"/>
          <a:stretch/>
        </p:blipFill>
        <p:spPr>
          <a:xfrm>
            <a:off x="3218097" y="2652552"/>
            <a:ext cx="2707808" cy="1650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623400" y="409575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Bad cases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9" name="Google Shape;249;p30" title="5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8213" y="1587725"/>
            <a:ext cx="1277650" cy="12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30" title="18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5863" y="164617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 title="2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5063" y="1587725"/>
            <a:ext cx="1277650" cy="127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0"/>
          <p:cNvSpPr txBox="1"/>
          <p:nvPr/>
        </p:nvSpPr>
        <p:spPr>
          <a:xfrm>
            <a:off x="484163" y="1132775"/>
            <a:ext cx="15102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cables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3" name="Google Shape;253;p30" title="50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33236" y="34765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0" title="210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8213" y="34765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0" title="38.jp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08260" y="3476525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0"/>
          <p:cNvSpPr txBox="1"/>
          <p:nvPr/>
        </p:nvSpPr>
        <p:spPr>
          <a:xfrm>
            <a:off x="541938" y="2915800"/>
            <a:ext cx="15102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cases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7" name="Google Shape;257;p30" title="207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763087" y="1646175"/>
            <a:ext cx="1277650" cy="12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 title="231.jp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72632" y="1646175"/>
            <a:ext cx="1277650" cy="127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 title="223.jp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82176" y="1646175"/>
            <a:ext cx="1277650" cy="127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0"/>
          <p:cNvSpPr txBox="1"/>
          <p:nvPr/>
        </p:nvSpPr>
        <p:spPr>
          <a:xfrm>
            <a:off x="4569413" y="1132775"/>
            <a:ext cx="1665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keyboard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30"/>
          <p:cNvSpPr txBox="1"/>
          <p:nvPr/>
        </p:nvSpPr>
        <p:spPr>
          <a:xfrm>
            <a:off x="4569388" y="2966225"/>
            <a:ext cx="1665000" cy="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Times New Roman"/>
              <a:buChar char="●"/>
            </a:pPr>
            <a:r>
              <a:rPr lang="zh-TW" sz="2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</a:t>
            </a:r>
            <a:endParaRPr sz="2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" name="Google Shape;262;p30" title="1.jp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72621" y="3476525"/>
            <a:ext cx="1277650" cy="1277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 title="225.jp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763075" y="3476525"/>
            <a:ext cx="1277650" cy="127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0" title="226.jp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382175" y="3476525"/>
            <a:ext cx="1277650" cy="127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type="title"/>
          </p:nvPr>
        </p:nvSpPr>
        <p:spPr>
          <a:xfrm>
            <a:off x="632275" y="4985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600">
                <a:latin typeface="Times New Roman"/>
                <a:ea typeface="Times New Roman"/>
                <a:cs typeface="Times New Roman"/>
                <a:sym typeface="Times New Roman"/>
              </a:rPr>
              <a:t>About To Try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31"/>
          <p:cNvSpPr txBox="1"/>
          <p:nvPr>
            <p:ph idx="1" type="body"/>
          </p:nvPr>
        </p:nvSpPr>
        <p:spPr>
          <a:xfrm>
            <a:off x="819150" y="1453150"/>
            <a:ext cx="7505700" cy="296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●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資料集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資料清理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資</a:t>
            </a: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料</a:t>
            </a: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增強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0" marL="4572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●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模型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適度正規化（避免過擬合）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Font typeface="DFKai-SB"/>
              <a:buChar char="○"/>
            </a:pPr>
            <a:r>
              <a:rPr lang="zh-TW" sz="2700">
                <a:latin typeface="DFKai-SB"/>
                <a:ea typeface="DFKai-SB"/>
                <a:cs typeface="DFKai-SB"/>
                <a:sym typeface="DFKai-SB"/>
              </a:rPr>
              <a:t>減少參數量（增加泛化能力）</a:t>
            </a:r>
            <a:endParaRPr sz="2700">
              <a:latin typeface="DFKai-SB"/>
              <a:ea typeface="DFKai-SB"/>
              <a:cs typeface="DFKai-SB"/>
              <a:sym typeface="DFKai-S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