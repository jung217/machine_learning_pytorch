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Nuni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Nunito-bold.fntdata"/><Relationship Id="rId10" Type="http://schemas.openxmlformats.org/officeDocument/2006/relationships/slide" Target="slides/slide5.xml"/><Relationship Id="rId21" Type="http://schemas.openxmlformats.org/officeDocument/2006/relationships/font" Target="fonts/Nunito-regular.fntdata"/><Relationship Id="rId13" Type="http://schemas.openxmlformats.org/officeDocument/2006/relationships/slide" Target="slides/slide8.xml"/><Relationship Id="rId24" Type="http://schemas.openxmlformats.org/officeDocument/2006/relationships/font" Target="fonts/Nunito-boldItalic.fntdata"/><Relationship Id="rId12" Type="http://schemas.openxmlformats.org/officeDocument/2006/relationships/slide" Target="slides/slide7.xml"/><Relationship Id="rId23" Type="http://schemas.openxmlformats.org/officeDocument/2006/relationships/font" Target="fonts/Nuni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d336eda49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d336eda49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d336eda49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d336eda49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7ff81508c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7ff81508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7ff81508c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7ff81508c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1ac7cda8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1ac7cda8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7ff81508c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7ff81508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d336eda49_3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9d336eda49_3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1ac7cda8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b1ac7cda8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d336eda49_3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9d336eda49_3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1ac7cda82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1ac7cda82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1ac7cda82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1ac7cda8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d336eda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9d336eda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1ac7cda82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b1ac7cda82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7ff81508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97ff81508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kaggle.com/datasets/lakshmi25npathi/imdb-dataset-of-50k-movie-reviews" TargetMode="External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345950" y="1586400"/>
            <a:ext cx="64521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200">
                <a:latin typeface="Times New Roman"/>
                <a:ea typeface="Times New Roman"/>
                <a:cs typeface="Times New Roman"/>
                <a:sym typeface="Times New Roman"/>
              </a:rPr>
              <a:t>Pytorch </a:t>
            </a:r>
            <a:r>
              <a:rPr lang="zh-TW" sz="6200">
                <a:latin typeface="DFKai-SB"/>
                <a:ea typeface="DFKai-SB"/>
                <a:cs typeface="DFKai-SB"/>
                <a:sym typeface="DFKai-SB"/>
              </a:rPr>
              <a:t>期末專案</a:t>
            </a:r>
            <a:endParaRPr sz="6200"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91350" y="3034496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latin typeface="Times New Roman"/>
                <a:ea typeface="Times New Roman"/>
                <a:cs typeface="Times New Roman"/>
                <a:sym typeface="Times New Roman"/>
              </a:rPr>
              <a:t>M11407509 </a:t>
            </a:r>
            <a:r>
              <a:rPr lang="zh-TW" sz="2000">
                <a:latin typeface="DFKai-SB"/>
                <a:ea typeface="DFKai-SB"/>
                <a:cs typeface="DFKai-SB"/>
                <a:sym typeface="DFKai-SB"/>
              </a:rPr>
              <a:t>簡志融</a:t>
            </a:r>
            <a:endParaRPr sz="2000"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333550" y="2906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541675" y="997475"/>
            <a:ext cx="8374500" cy="31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zh-TW" sz="2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IMDB Dataset of 50K Movie Reviews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○"/>
            </a:pPr>
            <a:r>
              <a:rPr lang="zh-TW" sz="2000">
                <a:latin typeface="Times New Roman"/>
                <a:ea typeface="Times New Roman"/>
                <a:cs typeface="Times New Roman"/>
                <a:sym typeface="Times New Roman"/>
              </a:rPr>
              <a:t>Task: Sentiment Classification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○"/>
            </a:pPr>
            <a:r>
              <a:rPr lang="zh-TW" sz="2000">
                <a:latin typeface="Times New Roman"/>
                <a:ea typeface="Times New Roman"/>
                <a:cs typeface="Times New Roman"/>
                <a:sym typeface="Times New Roman"/>
              </a:rPr>
              <a:t>Total number of classes: 2 (Positive / Negative)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○"/>
            </a:pPr>
            <a:r>
              <a:rPr lang="zh-TW" sz="2000">
                <a:latin typeface="Times New Roman"/>
                <a:ea typeface="Times New Roman"/>
                <a:cs typeface="Times New Roman"/>
                <a:sym typeface="Times New Roman"/>
              </a:rPr>
              <a:t>Total number of samples: 50,000 movie reviews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○"/>
            </a:pPr>
            <a:r>
              <a:rPr lang="zh-TW" sz="2000">
                <a:latin typeface="Times New Roman"/>
                <a:ea typeface="Times New Roman"/>
                <a:cs typeface="Times New Roman"/>
                <a:sym typeface="Times New Roman"/>
              </a:rPr>
              <a:t>Data characteristics: Highly polar reviews (clearly positive or negative)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6" name="Google Shape;13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8250" y="2956775"/>
            <a:ext cx="4305750" cy="218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333550" y="290625"/>
            <a:ext cx="21900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2" name="Google Shape;14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8600" y="1261725"/>
            <a:ext cx="6986801" cy="262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type="title"/>
          </p:nvPr>
        </p:nvSpPr>
        <p:spPr>
          <a:xfrm>
            <a:off x="352700" y="2503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latin typeface="Times New Roman"/>
                <a:ea typeface="Times New Roman"/>
                <a:cs typeface="Times New Roman"/>
                <a:sym typeface="Times New Roman"/>
              </a:rPr>
              <a:t>Model : DistilBERT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928950" y="1076025"/>
            <a:ext cx="7286100" cy="3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DistilBERT is a lightweight version of BERT 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Architecture type: Encoder-only Transformer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Built using Knowledge Distillation 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Teacher–Student framework: 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Teacher: BERT 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Student: DistilBERT 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/>
          <p:nvPr>
            <p:ph type="title"/>
          </p:nvPr>
        </p:nvSpPr>
        <p:spPr>
          <a:xfrm>
            <a:off x="343225" y="24054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latin typeface="Times New Roman"/>
                <a:ea typeface="Times New Roman"/>
                <a:cs typeface="Times New Roman"/>
                <a:sym typeface="Times New Roman"/>
              </a:rPr>
              <a:t>Model Architecture &amp; Compression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899250" y="937475"/>
            <a:ext cx="7345500" cy="3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Char char="●"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Same as BERT: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Char char="○"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Hidden size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Char char="○"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Number of attention heads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Char char="●"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Key simplifications: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Char char="○"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Transformer layers reduced by half (12 → 6)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Char char="○"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Token-type embeddings removed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Char char="○"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Pooler layer removed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Char char="○"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66M parameters ( 40% ↓)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>
            <p:ph type="title"/>
          </p:nvPr>
        </p:nvSpPr>
        <p:spPr>
          <a:xfrm>
            <a:off x="343225" y="24054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latin typeface="Times New Roman"/>
                <a:ea typeface="Times New Roman"/>
                <a:cs typeface="Times New Roman"/>
                <a:sym typeface="Times New Roman"/>
              </a:rPr>
              <a:t>Training via Knowledge Distillation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343225" y="977150"/>
            <a:ext cx="86874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zh-TW" sz="2300">
                <a:latin typeface="Times New Roman"/>
                <a:ea typeface="Times New Roman"/>
                <a:cs typeface="Times New Roman"/>
                <a:sym typeface="Times New Roman"/>
              </a:rPr>
              <a:t>Pre-trained on the same corpus as BERT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zh-TW" sz="2300">
                <a:latin typeface="Times New Roman"/>
                <a:ea typeface="Times New Roman"/>
                <a:cs typeface="Times New Roman"/>
                <a:sym typeface="Times New Roman"/>
              </a:rPr>
              <a:t>Student initialization: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○"/>
            </a:pPr>
            <a:r>
              <a:rPr lang="zh-TW" sz="2300">
                <a:latin typeface="Times New Roman"/>
                <a:ea typeface="Times New Roman"/>
                <a:cs typeface="Times New Roman"/>
                <a:sym typeface="Times New Roman"/>
              </a:rPr>
              <a:t>Copy every other layer from the teacher (BERT)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zh-TW" sz="2300">
                <a:latin typeface="Times New Roman"/>
                <a:ea typeface="Times New Roman"/>
                <a:cs typeface="Times New Roman"/>
                <a:sym typeface="Times New Roman"/>
              </a:rPr>
              <a:t>Training objective: Triple Loss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○"/>
            </a:pPr>
            <a:r>
              <a:rPr lang="zh-TW" sz="2300">
                <a:latin typeface="Times New Roman"/>
                <a:ea typeface="Times New Roman"/>
                <a:cs typeface="Times New Roman"/>
                <a:sym typeface="Times New Roman"/>
              </a:rPr>
              <a:t>Distillation loss (L_ce): matches teacher soft predictions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○"/>
            </a:pPr>
            <a:r>
              <a:rPr lang="zh-TW" sz="2300">
                <a:latin typeface="Times New Roman"/>
                <a:ea typeface="Times New Roman"/>
                <a:cs typeface="Times New Roman"/>
                <a:sym typeface="Times New Roman"/>
              </a:rPr>
              <a:t>MLM loss (L_mlm): preserves language modeling ability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○"/>
            </a:pPr>
            <a:r>
              <a:rPr lang="zh-TW" sz="2300">
                <a:latin typeface="Times New Roman"/>
                <a:ea typeface="Times New Roman"/>
                <a:cs typeface="Times New Roman"/>
                <a:sym typeface="Times New Roman"/>
              </a:rPr>
              <a:t>Cosine embedding loss (L_cos): aligns hidden representations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>
            <p:ph type="title"/>
          </p:nvPr>
        </p:nvSpPr>
        <p:spPr>
          <a:xfrm>
            <a:off x="412325" y="3495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latin typeface="Times New Roman"/>
                <a:ea typeface="Times New Roman"/>
                <a:cs typeface="Times New Roman"/>
                <a:sym typeface="Times New Roman"/>
              </a:rPr>
              <a:t>Fit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6" name="Google Shape;16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3750" y="541463"/>
            <a:ext cx="4156500" cy="406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0" title="W&amp;B Chart 2025_12_19 上午3_38_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925" y="1657588"/>
            <a:ext cx="4357463" cy="2289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 title="W&amp;B Chart 2025_12_19 上午3_39_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2609" y="1657609"/>
            <a:ext cx="4357463" cy="2289349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1069463" y="1196525"/>
            <a:ext cx="26064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 loss : 0.1829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5654291" y="1196525"/>
            <a:ext cx="22341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 </a:t>
            </a:r>
            <a:r>
              <a:rPr lang="zh-TW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 : 0.2436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1" title="W&amp;B Chart 2025_12_19 上午3_39_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0876" y="1111000"/>
            <a:ext cx="6402227" cy="336367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1"/>
          <p:cNvSpPr txBox="1"/>
          <p:nvPr/>
        </p:nvSpPr>
        <p:spPr>
          <a:xfrm>
            <a:off x="3454929" y="668813"/>
            <a:ext cx="22341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 acc: 0.9</a:t>
            </a:r>
            <a:r>
              <a:rPr lang="zh-TW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zh-TW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2" title="W&amp;B Chart 2025_12_19 上午4_33_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787" y="1705450"/>
            <a:ext cx="4346204" cy="2283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2" title="W&amp;B Chart 2025_12_19 上午4_32_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10" y="1705451"/>
            <a:ext cx="4346204" cy="2283447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2"/>
          <p:cNvSpPr txBox="1"/>
          <p:nvPr/>
        </p:nvSpPr>
        <p:spPr>
          <a:xfrm>
            <a:off x="1069463" y="1154238"/>
            <a:ext cx="26064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 loss : 0.</a:t>
            </a:r>
            <a:r>
              <a:rPr lang="zh-TW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2018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22"/>
          <p:cNvSpPr txBox="1"/>
          <p:nvPr/>
        </p:nvSpPr>
        <p:spPr>
          <a:xfrm>
            <a:off x="5654291" y="1154238"/>
            <a:ext cx="22341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 loss : 0.</a:t>
            </a:r>
            <a:r>
              <a:rPr lang="zh-TW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1974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3" title="W&amp;B Chart 2025_12_19 上午4_33_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7475" y="1267299"/>
            <a:ext cx="5889050" cy="309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3"/>
          <p:cNvSpPr txBox="1"/>
          <p:nvPr/>
        </p:nvSpPr>
        <p:spPr>
          <a:xfrm>
            <a:off x="3454954" y="782163"/>
            <a:ext cx="22341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 acc: 0.9</a:t>
            </a:r>
            <a:r>
              <a:rPr lang="zh-TW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308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950" y="510100"/>
            <a:ext cx="7498101" cy="210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5738" y="2684937"/>
            <a:ext cx="7232514" cy="2226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/>
        </p:nvSpPr>
        <p:spPr>
          <a:xfrm>
            <a:off x="611200" y="1168513"/>
            <a:ext cx="7863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| I had high hopes for this movie, because I enjoyed the book so much. However, I don't think I would ... | Negative   | Positive   [X]</a:t>
            </a:r>
            <a:endParaRPr/>
          </a:p>
        </p:txBody>
      </p:sp>
      <p:sp>
        <p:nvSpPr>
          <p:cNvPr id="206" name="Google Shape;206;p25"/>
          <p:cNvSpPr txBox="1"/>
          <p:nvPr/>
        </p:nvSpPr>
        <p:spPr>
          <a:xfrm>
            <a:off x="602500" y="1796263"/>
            <a:ext cx="7863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| This review owes its existence entirely to a review. We take a weekly TV magazine to see what is com... | Positive   | Negative   [X]</a:t>
            </a:r>
            <a:endParaRPr/>
          </a:p>
        </p:txBody>
      </p:sp>
      <p:sp>
        <p:nvSpPr>
          <p:cNvPr id="207" name="Google Shape;207;p25"/>
          <p:cNvSpPr txBox="1"/>
          <p:nvPr/>
        </p:nvSpPr>
        <p:spPr>
          <a:xfrm>
            <a:off x="658375" y="2598688"/>
            <a:ext cx="780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| This is the first non-zombie subgenre review ive done but this movie is worth doing a review for. Di... | Negative   | Positive   [X]</a:t>
            </a:r>
            <a:endParaRPr/>
          </a:p>
        </p:txBody>
      </p:sp>
      <p:sp>
        <p:nvSpPr>
          <p:cNvPr id="208" name="Google Shape;208;p25"/>
          <p:cNvSpPr txBox="1"/>
          <p:nvPr/>
        </p:nvSpPr>
        <p:spPr>
          <a:xfrm>
            <a:off x="733700" y="3401113"/>
            <a:ext cx="780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| "Scientists at a remote lab experiment on (insert scaly creature here) and create out of control mon... | Negative   | Positive   [X]</a:t>
            </a:r>
            <a:endParaRPr/>
          </a:p>
        </p:txBody>
      </p:sp>
      <p:sp>
        <p:nvSpPr>
          <p:cNvPr id="209" name="Google Shape;209;p25"/>
          <p:cNvSpPr txBox="1"/>
          <p:nvPr/>
        </p:nvSpPr>
        <p:spPr>
          <a:xfrm>
            <a:off x="611200" y="554063"/>
            <a:ext cx="7863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| **SPOILERS**Actually based on the novel "The Brick Foxhole" about a gay man who was murdered by a GI... | Positive   | Negative   [X]</a:t>
            </a:r>
            <a:endParaRPr/>
          </a:p>
        </p:txBody>
      </p:sp>
      <p:sp>
        <p:nvSpPr>
          <p:cNvPr id="210" name="Google Shape;210;p25"/>
          <p:cNvSpPr txBox="1"/>
          <p:nvPr/>
        </p:nvSpPr>
        <p:spPr>
          <a:xfrm>
            <a:off x="733700" y="4081538"/>
            <a:ext cx="7741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| Yes, indeed we have a winner- a winner in best dumb-action-movie!&lt;br /&gt;&lt;br /&gt;The only reason I chose... | Positive   | Negative   [X]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"/>
          <p:cNvSpPr txBox="1"/>
          <p:nvPr>
            <p:ph type="title"/>
          </p:nvPr>
        </p:nvSpPr>
        <p:spPr>
          <a:xfrm>
            <a:off x="632275" y="4985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latin typeface="Times New Roman"/>
                <a:ea typeface="Times New Roman"/>
                <a:cs typeface="Times New Roman"/>
                <a:sym typeface="Times New Roman"/>
              </a:rPr>
              <a:t>Potential issues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26"/>
          <p:cNvSpPr txBox="1"/>
          <p:nvPr>
            <p:ph idx="1" type="body"/>
          </p:nvPr>
        </p:nvSpPr>
        <p:spPr>
          <a:xfrm>
            <a:off x="625650" y="1373850"/>
            <a:ext cx="7892700" cy="29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❖"/>
            </a:pPr>
            <a:r>
              <a:rPr b="1" lang="zh-TW" sz="200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語意陷阱:</a:t>
            </a:r>
            <a:r>
              <a:rPr lang="zh-TW" sz="200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諷刺、反話、雙重否定</a:t>
            </a:r>
            <a:endParaRPr sz="2000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❖"/>
            </a:pPr>
            <a:r>
              <a:rPr b="1" lang="zh-TW" sz="200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長度限制:</a:t>
            </a:r>
            <a:r>
              <a:rPr lang="zh-TW" sz="200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評論太長</a:t>
            </a:r>
            <a:endParaRPr sz="2000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❖"/>
            </a:pPr>
            <a:r>
              <a:rPr b="1" lang="zh-TW" sz="200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標籤衝突:</a:t>
            </a:r>
            <a:r>
              <a:rPr lang="zh-TW" sz="200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文字充滿負面詞(恐怖、噁心)但標籤</a:t>
            </a:r>
            <a:endParaRPr sz="2000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556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➢"/>
            </a:pPr>
            <a:r>
              <a:rPr lang="zh-TW" sz="200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為正面增加特定類型(如恐怖片)的訓練資料量</a:t>
            </a:r>
            <a:endParaRPr sz="2000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❖"/>
            </a:pPr>
            <a:r>
              <a:rPr b="1" lang="zh-TW" sz="200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主觀偏差:</a:t>
            </a:r>
            <a:r>
              <a:rPr lang="zh-TW" sz="200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評論者語氣委婉</a:t>
            </a:r>
            <a:endParaRPr sz="2000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DFKai-SB"/>
              <a:buChar char="❖"/>
            </a:pPr>
            <a:r>
              <a:rPr b="1" lang="zh-TW" sz="200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過擬合 (</a:t>
            </a:r>
            <a:r>
              <a:rPr b="1" lang="zh-TW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Overfitting</a:t>
            </a:r>
            <a:r>
              <a:rPr b="1" lang="zh-TW" sz="200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) 風險</a:t>
            </a:r>
            <a:r>
              <a:rPr lang="zh-TW" sz="200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：後期</a:t>
            </a:r>
            <a:r>
              <a:rPr lang="zh-TW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Validation</a:t>
            </a:r>
            <a:r>
              <a:rPr lang="zh-TW" sz="200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lang="zh-TW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</a:t>
            </a:r>
            <a:r>
              <a:rPr lang="zh-TW" sz="200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的下降速度趨緩，甚至有輕微波動，增加Epoch可能導致模型僅記住訓練資料。</a:t>
            </a:r>
            <a:endParaRPr sz="2000">
              <a:solidFill>
                <a:srgbClr val="00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 txBox="1"/>
          <p:nvPr>
            <p:ph type="title"/>
          </p:nvPr>
        </p:nvSpPr>
        <p:spPr>
          <a:xfrm>
            <a:off x="632275" y="4985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latin typeface="Times New Roman"/>
                <a:ea typeface="Times New Roman"/>
                <a:cs typeface="Times New Roman"/>
                <a:sym typeface="Times New Roman"/>
              </a:rPr>
              <a:t>About To Try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27"/>
          <p:cNvSpPr txBox="1"/>
          <p:nvPr>
            <p:ph idx="1" type="body"/>
          </p:nvPr>
        </p:nvSpPr>
        <p:spPr>
          <a:xfrm>
            <a:off x="819150" y="1453150"/>
            <a:ext cx="7557000" cy="29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Font typeface="DFKai-SB"/>
              <a:buChar char="❖"/>
            </a:pPr>
            <a:r>
              <a:rPr lang="zh-TW" sz="2500">
                <a:latin typeface="DFKai-SB"/>
                <a:ea typeface="DFKai-SB"/>
                <a:cs typeface="DFKai-SB"/>
                <a:sym typeface="DFKai-SB"/>
              </a:rPr>
              <a:t>嘗試更強大的模型（如 </a:t>
            </a: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RoBERTa</a:t>
            </a:r>
            <a:r>
              <a:rPr lang="zh-TW" sz="2500">
                <a:latin typeface="DFKai-SB"/>
                <a:ea typeface="DFKai-SB"/>
                <a:cs typeface="DFKai-SB"/>
                <a:sym typeface="DFKai-SB"/>
              </a:rPr>
              <a:t>）</a:t>
            </a:r>
            <a:endParaRPr sz="2500">
              <a:latin typeface="DFKai-SB"/>
              <a:ea typeface="DFKai-SB"/>
              <a:cs typeface="DFKai-SB"/>
              <a:sym typeface="DFKai-SB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Font typeface="DFKai-SB"/>
              <a:buChar char="❖"/>
            </a:pPr>
            <a:r>
              <a:rPr lang="zh-TW" sz="2500">
                <a:latin typeface="DFKai-SB"/>
                <a:ea typeface="DFKai-SB"/>
                <a:cs typeface="DFKai-SB"/>
                <a:sym typeface="DFKai-SB"/>
              </a:rPr>
              <a:t>採用能處理長文本的架構</a:t>
            </a:r>
            <a:endParaRPr sz="2500">
              <a:latin typeface="DFKai-SB"/>
              <a:ea typeface="DFKai-SB"/>
              <a:cs typeface="DFKai-SB"/>
              <a:sym typeface="DFKai-SB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Font typeface="DFKai-SB"/>
              <a:buChar char="❖"/>
            </a:pPr>
            <a:r>
              <a:rPr lang="zh-TW" sz="2500">
                <a:latin typeface="DFKai-SB"/>
                <a:ea typeface="DFKai-SB"/>
                <a:cs typeface="DFKai-SB"/>
                <a:sym typeface="DFKai-SB"/>
              </a:rPr>
              <a:t>資料增強，增加語氣多樣性</a:t>
            </a:r>
            <a:endParaRPr sz="2500"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